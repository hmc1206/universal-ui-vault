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35038" y="937952"/>
            <a:ext cx="5673868" cy="326754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749326" y="952240"/>
            <a:ext cx="5645237" cy="5715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5" name="Shape 2"/>
          <p:cNvSpPr/>
          <p:nvPr/>
        </p:nvSpPr>
        <p:spPr>
          <a:xfrm>
            <a:off x="3694435" y="1523740"/>
            <a:ext cx="1755074" cy="292894"/>
          </a:xfrm>
          <a:prstGeom prst="round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94435" y="1523740"/>
            <a:ext cx="1755074" cy="292894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Intelligent Workstation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463701" y="2088096"/>
            <a:ext cx="4216543" cy="61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750" b="1" spc="-1" kern="0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Universal UI Vault</a:t>
            </a:r>
            <a:endParaRPr lang="en-US" sz="3750" dirty="0"/>
          </a:p>
        </p:txBody>
      </p:sp>
      <p:sp>
        <p:nvSpPr>
          <p:cNvPr id="8" name="Text 5"/>
          <p:cNvSpPr/>
          <p:nvPr/>
        </p:nvSpPr>
        <p:spPr>
          <a:xfrm>
            <a:off x="2463701" y="2919617"/>
            <a:ext cx="42165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338CA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브랜드 UI를 비교하고, 조합하고,</a:t>
            </a:r>
            <a:r>
              <a:rPr lang="en-US" sz="1700" dirty="0">
                <a:solidFill>
                  <a:srgbClr val="4338CA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
</a:t>
            </a:r>
            <a:r>
              <a:rPr lang="en-US" sz="1700" dirty="0">
                <a:solidFill>
                  <a:srgbClr val="4338CA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생성하는 워크스테이션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455157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15개 브랜드, 150개 실물 컴포넌트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294526"/>
            <a:ext cx="4257675" cy="3411699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4375" y="1701719"/>
            <a:ext cx="228600" cy="228600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70171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85850" y="1666001"/>
            <a:ext cx="330041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각 브랜드는 Button부터 Accordion까</a:t>
            </a:r>
            <a:r>
              <a:rPr lang="en-US" sz="150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지 </a:t>
            </a:r>
            <a:r>
              <a:rPr lang="en-US" sz="14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10개 독립 TSX</a:t>
            </a:r>
            <a:r>
              <a:rPr lang="en-US" sz="150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로 구성됩니다.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14375" y="2556067"/>
            <a:ext cx="228600" cy="228600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4375" y="255606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85850" y="2520348"/>
            <a:ext cx="3300413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Live vault catalog에서 브랜드를 고르면 실제 source가 전시 카드에 렌더링됩니다.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4375" y="3730433"/>
            <a:ext cx="228600" cy="228600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4375" y="373043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85850" y="3694714"/>
            <a:ext cx="330041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목적은 복사가 아니라 </a:t>
            </a:r>
            <a:r>
              <a:rPr lang="en-US" sz="14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디자인 방향성 </a:t>
            </a:r>
            <a:r>
              <a:rPr lang="en-US" sz="14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비교와 구현 기준 정리</a:t>
            </a:r>
            <a:r>
              <a:rPr lang="en-US" sz="150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입니다.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957763" y="1308813"/>
            <a:ext cx="3757613" cy="3383124"/>
          </a:xfrm>
          <a:prstGeom prst="rect">
            <a:avLst/>
          </a:prstGeom>
          <a:solidFill>
            <a:srgbClr val="312E81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571625"/>
            <a:ext cx="36861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4334135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먼저 원본 vault의 결을 읽습니다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978694"/>
            <a:ext cx="8286750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7269"/>
            <a:ext cx="8229600" cy="19431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28625" y="3264694"/>
            <a:ext cx="2619356" cy="1534344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523697" y="3121819"/>
            <a:ext cx="381409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0E7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01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642938" y="3550444"/>
            <a:ext cx="2190731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Live vault catalog에서 브랜드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를 열고 </a:t>
            </a: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10개 컴포넌트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를 순서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대로 확인합니다.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71488" y="3307556"/>
            <a:ext cx="2590726" cy="1505713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0" name="Shape 6"/>
          <p:cNvSpPr/>
          <p:nvPr/>
        </p:nvSpPr>
        <p:spPr>
          <a:xfrm>
            <a:off x="3262294" y="3264694"/>
            <a:ext cx="2619356" cy="1534344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57366" y="3121819"/>
            <a:ext cx="381409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0E7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02</a:t>
            </a:r>
            <a:endParaRPr lang="en-US" sz="2450" dirty="0"/>
          </a:p>
        </p:txBody>
      </p:sp>
      <p:sp>
        <p:nvSpPr>
          <p:cNvPr id="12" name="Text 8"/>
          <p:cNvSpPr/>
          <p:nvPr/>
        </p:nvSpPr>
        <p:spPr>
          <a:xfrm>
            <a:off x="3476606" y="3550444"/>
            <a:ext cx="2190731" cy="10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Button·Input은 상태와 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feedback을, HeroCard는 </a:t>
            </a: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surface·여백·타이포그래피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를 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중점적으로 봅니다.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05156" y="3307556"/>
            <a:ext cx="2590726" cy="1505713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4" name="Shape 10"/>
          <p:cNvSpPr/>
          <p:nvPr/>
        </p:nvSpPr>
        <p:spPr>
          <a:xfrm>
            <a:off x="6095963" y="3264694"/>
            <a:ext cx="2619356" cy="1505769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91035" y="3121819"/>
            <a:ext cx="381409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E0E7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03</a:t>
            </a:r>
            <a:endParaRPr lang="en-US" sz="2450" dirty="0"/>
          </a:p>
        </p:txBody>
      </p:sp>
      <p:sp>
        <p:nvSpPr>
          <p:cNvPr id="16" name="Text 12"/>
          <p:cNvSpPr/>
          <p:nvPr/>
        </p:nvSpPr>
        <p:spPr>
          <a:xfrm>
            <a:off x="6310275" y="3550444"/>
            <a:ext cx="2190731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각 전시대에서 </a:t>
            </a: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import path와 </a:t>
            </a: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Tailwind token snippet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을 바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로 복사할 수 있습니다.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38825" y="3307556"/>
            <a:ext cx="2590726" cy="1505713"/>
          </a:xfrm>
          <a:prstGeom prst="rect">
            <a:avLst/>
          </a:prstGeom>
          <a:solidFill>
            <a:srgbClr val="4338C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606789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ThemeBridge는 스타일과 물성을 분리합니다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907256"/>
            <a:ext cx="3545923" cy="105727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213" y="1035844"/>
            <a:ext cx="328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스타일 출처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7213" y="1335881"/>
            <a:ext cx="328874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palette·typography·surface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의 인상을 결정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합니다.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488" y="950119"/>
            <a:ext cx="3517292" cy="10287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021681"/>
            <a:ext cx="3545923" cy="105727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213" y="2150269"/>
            <a:ext cx="328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물성 출처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7213" y="2450306"/>
            <a:ext cx="328874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radius·shadow·hover response·motion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의 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감각을 결정합니다.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1488" y="2064544"/>
            <a:ext cx="3517292" cy="10287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3136106"/>
            <a:ext cx="3545923" cy="105727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213" y="3264694"/>
            <a:ext cx="3288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조합 예시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7213" y="3564731"/>
            <a:ext cx="328874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29CM의 절제된 흑백 스타일에 Toss의 elastic depth를 조합하여 새로운 경험을 만듭니다.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1488" y="3178969"/>
            <a:ext cx="3517292" cy="10287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6" name="Shape 13"/>
          <p:cNvSpPr/>
          <p:nvPr/>
        </p:nvSpPr>
        <p:spPr>
          <a:xfrm>
            <a:off x="4260298" y="907256"/>
            <a:ext cx="4455077" cy="325755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971" y="992981"/>
            <a:ext cx="4270679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4278771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Split View가 차이를 증명합니다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007269"/>
            <a:ext cx="3929063" cy="97155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1469" y="914400"/>
            <a:ext cx="285750" cy="285750"/>
          </a:xfrm>
          <a:prstGeom prst="rect">
            <a:avLst/>
          </a:prstGeom>
          <a:solidFill>
            <a:srgbClr val="4338CA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1469" y="91440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2938" y="1235869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혼합 테마를 켠 뒤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원본·혼합 Split View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로 이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동합니다.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71500" y="2135981"/>
            <a:ext cx="3786188" cy="97155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4344" y="2043113"/>
            <a:ext cx="285750" cy="285750"/>
          </a:xfrm>
          <a:prstGeom prst="rect">
            <a:avLst/>
          </a:prstGeom>
          <a:solidFill>
            <a:srgbClr val="4338CA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344" y="20431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5813" y="2364581"/>
            <a:ext cx="33575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왼쪽은 원본 vault, 오른쪽은 전시 전용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ThemeBridge skin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이 적용된 결과입니다.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4375" y="3264694"/>
            <a:ext cx="3643313" cy="122872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7219" y="3171825"/>
            <a:ext cx="285750" cy="285750"/>
          </a:xfrm>
          <a:prstGeom prst="rect">
            <a:avLst/>
          </a:prstGeom>
          <a:solidFill>
            <a:srgbClr val="4338CA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7219" y="317182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8688" y="3493294"/>
            <a:ext cx="321468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Button·Input·Select·Tabs에서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accent,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radius, shadow, hover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의 변화를 즉시 비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교합니다.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43438" y="978694"/>
            <a:ext cx="4071938" cy="357187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035844"/>
            <a:ext cx="3943350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513406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접근성은 비교 가능한 상태여야 합니다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035844"/>
            <a:ext cx="4364162" cy="97155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2938" y="1278731"/>
            <a:ext cx="257175" cy="257175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127873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42988" y="1264444"/>
            <a:ext cx="353548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Accessibility Simulation은 일반 모드와 시니어 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모드를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나란히 보여줍니다.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8625" y="2207419"/>
            <a:ext cx="4364162" cy="97155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2938" y="2450306"/>
            <a:ext cx="257175" cy="257175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938" y="2450306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42988" y="2436019"/>
            <a:ext cx="353548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시니어 모드는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150% text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, 더 넓은 hit area, 높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은 대비를 시각화합니다.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8625" y="3378994"/>
            <a:ext cx="4364162" cy="122872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2938" y="3621881"/>
            <a:ext cx="257175" cy="257175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938" y="362188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42988" y="3607594"/>
            <a:ext cx="3535487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이는 검증의 출발점이며 실제 배포 전에는 키보드·스크린 리더·실사용자 테스트가 필요합니다.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78537" y="1121569"/>
            <a:ext cx="3636838" cy="1643063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21412" y="1235869"/>
            <a:ext cx="133577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일반 모드 (NORMAL)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03931" y="1755577"/>
            <a:ext cx="1785993" cy="360759"/>
          </a:xfrm>
          <a:prstGeom prst="rect">
            <a:avLst/>
          </a:prstGeom>
          <a:solidFill>
            <a:srgbClr val="E0E7FF"/>
          </a:solidFill>
          <a:ln w="9144">
            <a:solidFill>
              <a:srgbClr val="4338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3931" y="1755577"/>
            <a:ext cx="1785993" cy="360759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확인 및 다음 단계로 이동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78537" y="2893219"/>
            <a:ext cx="3636838" cy="1657350"/>
          </a:xfrm>
          <a:prstGeom prst="rect">
            <a:avLst/>
          </a:prstGeom>
          <a:solidFill>
            <a:srgbClr val="111111"/>
          </a:solidFill>
          <a:ln w="18288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21412" y="3021806"/>
            <a:ext cx="140023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시니어 모드 (SENIOR)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14181" y="3393281"/>
            <a:ext cx="2965493" cy="671513"/>
          </a:xfrm>
          <a:prstGeom prst="rect">
            <a:avLst/>
          </a:prstGeom>
          <a:solidFill>
            <a:srgbClr val="111111"/>
          </a:solidFill>
          <a:ln w="27432">
            <a:solidFill>
              <a:srgbClr val="FFFF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14181" y="3393281"/>
            <a:ext cx="2965493" cy="671513"/>
          </a:xfrm>
          <a:prstGeom prst="rect">
            <a:avLst/>
          </a:prstGeom>
          <a:noFill/>
          <a:ln/>
        </p:spPr>
        <p:txBody>
          <a:bodyPr wrap="square" lIns="408178" tIns="204089" rIns="408178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00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확인 및 다음 단계로 이동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4883981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고급 DNA는 직접 값으로 설계합니다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050131"/>
            <a:ext cx="4043363" cy="357187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78706"/>
            <a:ext cx="3971925" cy="35147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43450" y="1050131"/>
            <a:ext cx="3971925" cy="992981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957763" y="1278731"/>
            <a:ext cx="354330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Custom brand builder에서 </a:t>
            </a:r>
            <a:r>
              <a:rPr lang="en-US" sz="1200" b="1" dirty="0">
                <a:solidFill>
                  <a:srgbClr val="312E8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#RRGGBB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semantic palette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를 직접 입력합니다.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786313" y="1092994"/>
            <a:ext cx="3929063" cy="96440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9" name="Shape 5"/>
          <p:cNvSpPr/>
          <p:nvPr/>
        </p:nvSpPr>
        <p:spPr>
          <a:xfrm>
            <a:off x="4743450" y="2207419"/>
            <a:ext cx="3971925" cy="1007269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57763" y="2461022"/>
            <a:ext cx="3543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primary·surface·ink·border·focus ring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과 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success·warning·danger를 독립 조절합니다.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86313" y="2264569"/>
            <a:ext cx="3929063" cy="96440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2" name="Shape 8"/>
          <p:cNvSpPr/>
          <p:nvPr/>
        </p:nvSpPr>
        <p:spPr>
          <a:xfrm>
            <a:off x="4743450" y="3393281"/>
            <a:ext cx="3971925" cy="122872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57763" y="3636169"/>
            <a:ext cx="35433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control·card·modal radius, border,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motion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duration·easing·lift·scale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까지 같은 DNA에 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담습니다.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786313" y="3464719"/>
            <a:ext cx="3929063" cy="1200150"/>
          </a:xfrm>
          <a:prstGeom prst="rect">
            <a:avLst/>
          </a:prstGeom>
          <a:solidFill>
            <a:srgbClr val="4338C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5768132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Override로 한 컴포넌트만 다르게 만듭니다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121569"/>
            <a:ext cx="4440566" cy="97155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2938" y="1335881"/>
            <a:ext cx="285750" cy="285750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07319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1563" y="1335881"/>
            <a:ext cx="35833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Target component에서 Button부터 Accordion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까지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대상 하나를 고릅니다.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28625" y="2235994"/>
            <a:ext cx="4440566" cy="122872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42938" y="2450306"/>
            <a:ext cx="285750" cy="285750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521744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1563" y="2450306"/>
            <a:ext cx="358331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Override를 켜면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accent·surface·radius·density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를 전역 DNA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와 별도로 정의합니다.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28625" y="3607594"/>
            <a:ext cx="4440566" cy="122872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2938" y="3821906"/>
            <a:ext cx="285750" cy="285750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893344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1563" y="3821906"/>
            <a:ext cx="358331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예: 전역은 sky, Button만 </a:t>
            </a:r>
            <a:r>
              <a:rPr lang="en-US" sz="12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rose·12px·compact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로 지정해 우선순위를 생성 코드에서 확인합니</a:t>
            </a:r>
            <a:r>
              <a:rPr lang="en-US" sz="12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다.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154941" y="1121569"/>
            <a:ext cx="3560434" cy="3429000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870544" y="1601986"/>
            <a:ext cx="214630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INHERITANCE VS OVERRIDE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457825" y="1977033"/>
            <a:ext cx="2971800" cy="2093119"/>
          </a:xfrm>
          <a:prstGeom prst="rect">
            <a:avLst/>
          </a:prstGeom>
          <a:solidFill>
            <a:srgbClr val="F8FAFC"/>
          </a:solidFill>
          <a:ln w="18288">
            <a:solidFill>
              <a:srgbClr val="312E81"/>
            </a:solidFill>
            <a:prstDash val="dash"/>
          </a:ln>
        </p:spPr>
      </p:sp>
      <p:sp>
        <p:nvSpPr>
          <p:cNvPr id="19" name="Shape 13"/>
          <p:cNvSpPr/>
          <p:nvPr/>
        </p:nvSpPr>
        <p:spPr>
          <a:xfrm>
            <a:off x="5600700" y="2134195"/>
            <a:ext cx="2686050" cy="714375"/>
          </a:xfrm>
          <a:prstGeom prst="rect">
            <a:avLst/>
          </a:prstGeom>
          <a:solidFill>
            <a:srgbClr val="E0F2FE"/>
          </a:solidFill>
          <a:ln w="18288">
            <a:solidFill>
              <a:srgbClr val="0284C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67438" y="2302073"/>
            <a:ext cx="95251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Global DNA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743575" y="2552105"/>
            <a:ext cx="24003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284C7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Sky Palette / 24px Radius / Spacious</a:t>
            </a:r>
            <a:endParaRPr lang="en-US" sz="8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909292"/>
            <a:ext cx="171450" cy="2286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600700" y="3234333"/>
            <a:ext cx="2686050" cy="657225"/>
          </a:xfrm>
          <a:prstGeom prst="rect">
            <a:avLst/>
          </a:prstGeom>
          <a:solidFill>
            <a:srgbClr val="FFE4E6"/>
          </a:solidFill>
          <a:ln w="18288">
            <a:solidFill>
              <a:srgbClr val="E11D4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291188" y="3373636"/>
            <a:ext cx="130507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Button Override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715000" y="3623667"/>
            <a:ext cx="24574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11D48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Rose Palette / 12px Radius / Compact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5284533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DNA는 검토 가능한 10개 TSX가 됩니다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264444"/>
            <a:ext cx="2381269" cy="2857500"/>
          </a:xfrm>
          <a:prstGeom prst="rect">
            <a:avLst/>
          </a:prstGeom>
          <a:solidFill>
            <a:srgbClr val="FFFFFF"/>
          </a:solidFill>
          <a:ln w="27432">
            <a:solidFill>
              <a:srgbClr val="312E8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557338"/>
            <a:ext cx="257175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7269" y="1550194"/>
            <a:ext cx="73368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01. 기록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42938" y="2207419"/>
            <a:ext cx="1914525" cy="10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folder slug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, observed 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evidence, </a:t>
            </a: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license </a:t>
            </a: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boundary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를 먼저 명확히 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기록합니다.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521744"/>
            <a:ext cx="171450" cy="3429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343275" y="1264444"/>
            <a:ext cx="2400300" cy="2857500"/>
          </a:xfrm>
          <a:prstGeom prst="rect">
            <a:avLst/>
          </a:prstGeom>
          <a:solidFill>
            <a:srgbClr val="4338CA"/>
          </a:solidFill>
          <a:ln w="27432">
            <a:solidFill>
              <a:srgbClr val="312E81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619" y="1557338"/>
            <a:ext cx="321469" cy="2571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05244" y="1550194"/>
            <a:ext cx="73368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02. 생성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3576619" y="2207419"/>
            <a:ext cx="1933556" cy="10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생성기는 Button부터 </a:t>
            </a:r>
            <a:r>
              <a:rPr lang="en-US" sz="1150" dirty="0">
                <a:solidFill>
                  <a:srgbClr val="FFFFFF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Accordion까지 </a:t>
            </a:r>
            <a:r>
              <a:rPr lang="en-US" sz="1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10종 전체 </a:t>
            </a:r>
            <a:r>
              <a:rPr lang="en-US" sz="1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source</a:t>
            </a:r>
            <a:r>
              <a:rPr lang="en-US" sz="1150" dirty="0">
                <a:solidFill>
                  <a:srgbClr val="FFFFFF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를 독립적인 코드</a:t>
            </a:r>
            <a:r>
              <a:rPr lang="en-US" sz="1150" dirty="0">
                <a:solidFill>
                  <a:srgbClr val="FFFFFF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로 만듭니다.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13" y="2521744"/>
            <a:ext cx="171450" cy="3429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295988" y="1264444"/>
            <a:ext cx="2419331" cy="2857500"/>
          </a:xfrm>
          <a:prstGeom prst="rect">
            <a:avLst/>
          </a:prstGeom>
          <a:solidFill>
            <a:srgbClr val="FFFFFF"/>
          </a:solidFill>
          <a:ln w="27432">
            <a:solidFill>
              <a:srgbClr val="312E81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475" y="1557338"/>
            <a:ext cx="289322" cy="2571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944953" y="1550194"/>
            <a:ext cx="113373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03. 내보내기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6548475" y="2207419"/>
            <a:ext cx="1952644" cy="10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탭별 검토, source 복사, </a:t>
            </a: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개</a:t>
            </a:r>
            <a:r>
              <a:rPr lang="en-US" sz="11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별 TSX 다운로드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, 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Manifest JSON 내보내기를 </a:t>
            </a:r>
            <a:r>
              <a:rPr lang="en-US" sz="11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지원합니다.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285750"/>
            <a:ext cx="495034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안전한 handoff가 마지막 단계입니다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264444"/>
            <a:ext cx="2476481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5750" y="1121569"/>
            <a:ext cx="342900" cy="342900"/>
          </a:xfrm>
          <a:prstGeom prst="rect">
            <a:avLst/>
          </a:prstGeom>
          <a:solidFill>
            <a:srgbClr val="4338CA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5750" y="112156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1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322" y="1639491"/>
            <a:ext cx="450056" cy="400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2339" y="2253853"/>
            <a:ext cx="1609967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ThemeBridge 검증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2938" y="2646759"/>
            <a:ext cx="20288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생성된 DNA를 ThemeBridge에 </a:t>
            </a: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적용해 기존 vault와 바로 섞어</a:t>
            </a: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보고 </a:t>
            </a:r>
            <a:r>
              <a:rPr lang="en-US" sz="10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Split View에서 시각적으</a:t>
            </a:r>
            <a:r>
              <a:rPr lang="en-US" sz="10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로 확인</a:t>
            </a: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합니다.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2507456"/>
            <a:ext cx="142875" cy="228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314700" y="1264444"/>
            <a:ext cx="2486025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181369" y="1121569"/>
            <a:ext cx="342900" cy="342900"/>
          </a:xfrm>
          <a:prstGeom prst="rect">
            <a:avLst/>
          </a:prstGeom>
          <a:solidFill>
            <a:srgbClr val="4338CA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181369" y="112156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2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1639491"/>
            <a:ext cx="400050" cy="4000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70269" y="2253853"/>
            <a:ext cx="1774887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안전한 브라우저 환경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538556" y="2646759"/>
            <a:ext cx="2038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브라우저 생성기는 </a:t>
            </a:r>
            <a:r>
              <a:rPr lang="en-US" sz="10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저장소를 임</a:t>
            </a:r>
            <a:r>
              <a:rPr lang="en-US" sz="10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의로 바꾸지 않습니다.</a:t>
            </a: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 모든 코</a:t>
            </a: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드는 세션 내에서 안전하게 검토</a:t>
            </a: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됩니다.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112" y="2507456"/>
            <a:ext cx="142875" cy="2286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219862" y="1264444"/>
            <a:ext cx="2495569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095963" y="1121569"/>
            <a:ext cx="342900" cy="342900"/>
          </a:xfrm>
          <a:prstGeom prst="rect">
            <a:avLst/>
          </a:prstGeom>
          <a:solidFill>
            <a:srgbClr val="4338CA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095963" y="112156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3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029" y="1639491"/>
            <a:ext cx="350044" cy="40005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75345" y="2253853"/>
            <a:ext cx="140341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명시적 커밋 반영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468889" y="2682478"/>
            <a:ext cx="201637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검토가 끝난 source만 실제 경로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6453206" y="2911078"/>
            <a:ext cx="79379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에 반영하고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7247000" y="2911078"/>
            <a:ext cx="111107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lint·build 후 커밋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7314307" y="2911078"/>
            <a:ext cx="11866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12E81"/>
                </a:solidFill>
                <a:latin typeface="Nunito Medium" pitchFamily="34" charset="0"/>
                <a:ea typeface="Nunito Medium" pitchFamily="34" charset="-122"/>
                <a:cs typeface="Nunito Medium" pitchFamily="34" charset="-120"/>
              </a:rPr>
              <a:t>합니다.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453150" y="3403997"/>
            <a:ext cx="2047856" cy="437108"/>
          </a:xfrm>
          <a:prstGeom prst="rect">
            <a:avLst/>
          </a:prstGeom>
          <a:solidFill>
            <a:srgbClr val="E0E7FF"/>
          </a:solidFill>
          <a:ln w="9144">
            <a:solidFill>
              <a:srgbClr val="312E81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453150" y="3403997"/>
            <a:ext cx="2047856" cy="4371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12E8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src/components/vault/[slug]/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2938" y="659346"/>
            <a:ext cx="7858125" cy="3824753"/>
          </a:xfrm>
          <a:prstGeom prst="rect">
            <a:avLst/>
          </a:prstGeom>
          <a:solidFill>
            <a:srgbClr val="FFFFFF"/>
          </a:solidFill>
          <a:ln w="18288">
            <a:solidFill>
              <a:srgbClr val="312E8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973671"/>
            <a:ext cx="7258050" cy="16859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9151" y="2959633"/>
            <a:ext cx="6305643" cy="4457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312E81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비교에서 출발해, 검증 가능한 시스템으로</a:t>
            </a:r>
            <a:endParaRPr lang="en-US" sz="2450" dirty="0"/>
          </a:p>
        </p:txBody>
      </p:sp>
      <p:sp>
        <p:nvSpPr>
          <p:cNvPr id="6" name="Shape 2"/>
          <p:cNvSpPr/>
          <p:nvPr/>
        </p:nvSpPr>
        <p:spPr>
          <a:xfrm>
            <a:off x="928688" y="3691142"/>
            <a:ext cx="7286625" cy="492919"/>
          </a:xfrm>
          <a:prstGeom prst="rect">
            <a:avLst/>
          </a:prstGeom>
          <a:solidFill>
            <a:srgbClr val="E0E7FF"/>
          </a:solidFill>
          <a:ln w="18288">
            <a:solidFill>
              <a:srgbClr val="312E8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327231" y="3848305"/>
            <a:ext cx="80110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EXPLORE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491" y="3869736"/>
            <a:ext cx="114300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56948" y="3848305"/>
            <a:ext cx="300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MIX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979" y="3869736"/>
            <a:ext cx="114300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086435" y="3848305"/>
            <a:ext cx="81963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VALIDATE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3225" y="3869736"/>
            <a:ext cx="114300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234681" y="3848305"/>
            <a:ext cx="61921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DEFINE</a:t>
            </a:r>
            <a:endParaRPr lang="en-US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055" y="3869736"/>
            <a:ext cx="114300" cy="128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182512" y="3848305"/>
            <a:ext cx="91875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GENERATE</a:t>
            </a:r>
            <a:endParaRPr lang="en-US" sz="11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421" y="3869736"/>
            <a:ext cx="114300" cy="1285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29877" y="3848305"/>
            <a:ext cx="66286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REVIEW</a:t>
            </a:r>
            <a:endParaRPr lang="en-US" sz="11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9895" y="3869736"/>
            <a:ext cx="114300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421352" y="3848305"/>
            <a:ext cx="39541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4338CA"/>
                </a:solidFill>
                <a:latin typeface="Nunito ExtraBold" pitchFamily="34" charset="0"/>
                <a:ea typeface="Nunito ExtraBold" pitchFamily="34" charset="-122"/>
                <a:cs typeface="Nunito ExtraBold" pitchFamily="34" charset="-120"/>
              </a:rPr>
              <a:t>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2026-08-22T15:12:03Z</dcterms:created>
  <dcterms:modified xsi:type="dcterms:W3CDTF">2026-08-22T15:12:03Z</dcterms:modified>
</cp:coreProperties>
</file>